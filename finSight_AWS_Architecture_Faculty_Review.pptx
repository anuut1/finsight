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966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FACULTY PEER REVIEW &amp; CLOUD ARCHITECTURE AUDIT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FinSight: Enterprise Architecture,</a:t>
            </a:r>
            <a:br/>
            <a:r>
              <a:t>Feature Suite &amp; AWS Integration</a:t>
            </a:r>
          </a:p>
          <a:p>
            <a:pPr>
              <a:defRPr sz="1500">
                <a:solidFill>
                  <a:srgbClr val="94A3B8"/>
                </a:solidFill>
              </a:defRPr>
            </a:pPr>
            <a:r>
              <a:t>A Socratic Defense: From Foundational Architecture to Advanced Serverless Engineering</a:t>
            </a:r>
          </a:p>
          <a:p>
            <a:pPr>
              <a:defRPr sz="1100" b="1">
                <a:solidFill>
                  <a:srgbClr val="6366F1"/>
                </a:solidFill>
              </a:defRPr>
            </a:pPr>
            <a:r>
              <a:t>Reviewer: Professor Antigravity (Cloud Chair)  |  Presenter: Faculty Colleague (Software Engineering)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6366F1"/>
                </a:solidFill>
              </a:defRPr>
            </a:pPr>
            <a:r>
              <a:t>FINSIGHT ARCHITECTURE &amp; AWS INTEGRATION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Executive Problem Statement &amp; Core Value Proposition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B91C1C"/>
                </a:solidFill>
              </a:defRPr>
            </a:pPr>
            <a:r>
              <a:t>⚠️ THE EXPENSE TRACKING FRICTION</a:t>
            </a:r>
          </a:p>
          <a:p>
            <a:pPr>
              <a:defRPr sz="1150">
                <a:solidFill>
                  <a:srgbClr val="334155"/>
                </a:solidFill>
              </a:defRPr>
            </a:pPr>
            <a:r>
              <a:t>• Manual Data Entry Fatigue:  Users abandon finance apps because manually keying amounts, merchants, and dates takes too long.</a:t>
            </a:r>
          </a:p>
          <a:p>
            <a:pPr>
              <a:defRPr sz="1150">
                <a:solidFill>
                  <a:srgbClr val="334155"/>
                </a:solidFill>
              </a:defRPr>
            </a:pPr>
            <a:r>
              <a:t>• Cryptic Bank SMS &amp; Narrations:  Transaction logs fill up with confusing text like 'UPI/4289192837/SWIGGY5281' rather than clean merchant names.</a:t>
            </a:r>
          </a:p>
          <a:p>
            <a:pPr>
              <a:defRPr sz="1150">
                <a:solidFill>
                  <a:srgbClr val="334155"/>
                </a:solidFill>
              </a:defRPr>
            </a:pPr>
            <a:r>
              <a:t>• Fragmented Split Ledgers:  Vacations and group outings result in chaotic circular debts, multiple transfer fees, and awkward follow-ups.</a:t>
            </a:r>
          </a:p>
          <a:p>
            <a:pPr>
              <a:defRPr sz="1150">
                <a:solidFill>
                  <a:srgbClr val="334155"/>
                </a:solidFill>
              </a:defRPr>
            </a:pPr>
            <a:r>
              <a:t>• No Automated Reconciliation:  Receipts sit unrecorded in camera rolls, distorting monthly budget calculations.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47857"/>
                </a:solidFill>
              </a:defRPr>
            </a:pPr>
            <a:r>
              <a:t>✨ THE FINSIGHT ARCHITECTURAL SOLUTION</a:t>
            </a:r>
          </a:p>
          <a:p>
            <a:pPr>
              <a:defRPr sz="1150">
                <a:solidFill>
                  <a:srgbClr val="334155"/>
                </a:solidFill>
              </a:defRPr>
            </a:pPr>
            <a:r>
              <a:t>• Zero-RAM S3 Direct Uploads:  Upload receipts directly to private S3 buckets; analyzed by Amazon Textract in under 2 seconds.</a:t>
            </a:r>
          </a:p>
          <a:p>
            <a:pPr>
              <a:defRPr sz="1150">
                <a:solidFill>
                  <a:srgbClr val="334155"/>
                </a:solidFill>
              </a:defRPr>
            </a:pPr>
            <a:r>
              <a:t>• Generative AI SMS Cleansing:  Amazon Bedrock Titan Model automatically decodes banking strings into clean merchant and budget categories.</a:t>
            </a:r>
          </a:p>
          <a:p>
            <a:pPr>
              <a:defRPr sz="1150">
                <a:solidFill>
                  <a:srgbClr val="334155"/>
                </a:solidFill>
              </a:defRPr>
            </a:pPr>
            <a:r>
              <a:t>• Graph-Theoretical Settlements:  Collapses O(N²) complex group balances into minimal O(N) payment paths with zero circular transfers.</a:t>
            </a:r>
          </a:p>
          <a:p>
            <a:pPr>
              <a:defRPr sz="1150">
                <a:solidFill>
                  <a:srgbClr val="334155"/>
                </a:solidFill>
              </a:defRPr>
            </a:pPr>
            <a:r>
              <a:t>• NPCI-Compliant UPI Engine:  Dynamic QR codes and one-tap deep-links for instant settlement via Google Pay, PhonePe, and Paytm.</a:t>
            </a:r>
          </a:p>
          <a:p>
            <a:pPr>
              <a:defRPr sz="1150">
                <a:solidFill>
                  <a:srgbClr val="334155"/>
                </a:solidFill>
              </a:defRPr>
            </a:pPr>
            <a:r>
              <a:t>• Stateless EOD Magic Links:  HMAC-SHA256 tokens let users approve pending receipt drafts directly from daily email digests.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6366F1"/>
                </a:solidFill>
              </a:defRPr>
            </a:pPr>
            <a:r>
              <a:t>FINSIGHT ARCHITECTURE &amp; AWS INTEGRATION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Comprehensive AWS Cloud Services Topology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256032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2560320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F172A"/>
                </a:solidFill>
              </a:defRPr>
            </a:pPr>
            <a:r>
              <a:t>Amazon Textract</a:t>
            </a:r>
          </a:p>
          <a:p>
            <a:pPr>
              <a:defRPr b="1" sz="950">
                <a:solidFill>
                  <a:srgbClr val="F59E0B"/>
                </a:solidFill>
              </a:defRPr>
            </a:pPr>
            <a:r>
              <a:t>AnalyzeExpense AI OCR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Extracts vendor, items, tax, total &amp; confidence flags.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463040"/>
            <a:ext cx="256032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29000" y="1463040"/>
            <a:ext cx="2560320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69164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F172A"/>
                </a:solidFill>
              </a:defRPr>
            </a:pPr>
            <a:r>
              <a:t>Amazon S3</a:t>
            </a:r>
          </a:p>
          <a:p>
            <a:pPr>
              <a:defRPr b="1" sz="950">
                <a:solidFill>
                  <a:srgbClr val="3B82F6"/>
                </a:solidFill>
              </a:defRPr>
            </a:pPr>
            <a:r>
              <a:t>Private Receipt Store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30-day lifecycle auto-delete; Pre-signed direct uploads.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463040"/>
            <a:ext cx="256032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463040"/>
            <a:ext cx="2560320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69164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F172A"/>
                </a:solidFill>
              </a:defRPr>
            </a:pPr>
            <a:r>
              <a:t>Amazon Bedrock</a:t>
            </a:r>
          </a:p>
          <a:p>
            <a:pPr>
              <a:defRPr b="1" sz="950">
                <a:solidFill>
                  <a:srgbClr val="8B5CF6"/>
                </a:solidFill>
              </a:defRPr>
            </a:pPr>
            <a:r>
              <a:t>Titan Text Express v1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Transforms cryptic banking SMS into clean merchant 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463040"/>
            <a:ext cx="256032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823960" y="1463040"/>
            <a:ext cx="2560320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169164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F172A"/>
                </a:solidFill>
              </a:defRPr>
            </a:pPr>
            <a:r>
              <a:t>Amazon SES</a:t>
            </a:r>
          </a:p>
          <a:p>
            <a:pPr>
              <a:defRPr b="1" sz="950">
                <a:solidFill>
                  <a:srgbClr val="10B981"/>
                </a:solidFill>
              </a:defRPr>
            </a:pPr>
            <a:r>
              <a:t>Transactional Digests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Sends responsive daily EOD expense review emails.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40480"/>
            <a:ext cx="256032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840480"/>
            <a:ext cx="2560320" cy="109728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06908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F172A"/>
                </a:solidFill>
              </a:defRPr>
            </a:pPr>
            <a:r>
              <a:t>Amazon SNS</a:t>
            </a:r>
          </a:p>
          <a:p>
            <a:pPr>
              <a:defRPr b="1" sz="950">
                <a:solidFill>
                  <a:srgbClr val="EC4899"/>
                </a:solidFill>
              </a:defRPr>
            </a:pPr>
            <a:r>
              <a:t>Critical Alert SMS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Direct mobile carrier alerts for budget overruns.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29000" y="3840480"/>
            <a:ext cx="256032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29000" y="3840480"/>
            <a:ext cx="2560320" cy="10972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11880" y="406908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F172A"/>
                </a:solidFill>
              </a:defRPr>
            </a:pPr>
            <a:r>
              <a:t>AWS EventBridge</a:t>
            </a:r>
          </a:p>
          <a:p>
            <a:pPr>
              <a:defRPr b="1" sz="950">
                <a:solidFill>
                  <a:srgbClr val="6366F1"/>
                </a:solidFill>
              </a:defRPr>
            </a:pPr>
            <a:r>
              <a:t>Serverless Scheduler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Triggers nightly automated cron review at 21:00 UTC.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3840480"/>
            <a:ext cx="256032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3840480"/>
            <a:ext cx="2560320" cy="10972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406908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F172A"/>
                </a:solidFill>
              </a:defRPr>
            </a:pPr>
            <a:r>
              <a:t>AWS Lambda</a:t>
            </a:r>
          </a:p>
          <a:p>
            <a:pPr>
              <a:defRPr b="1" sz="950">
                <a:solidFill>
                  <a:srgbClr val="EA580C"/>
                </a:solidFill>
              </a:defRPr>
            </a:pPr>
            <a:r>
              <a:t>Microservice Dispatcher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Secure webhook bridge authenticated via shared secret.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23960" y="3840480"/>
            <a:ext cx="256032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23960" y="3840480"/>
            <a:ext cx="2560320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06840" y="406908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F172A"/>
                </a:solidFill>
              </a:defRPr>
            </a:pPr>
            <a:r>
              <a:t>AWS App Runner</a:t>
            </a:r>
          </a:p>
          <a:p>
            <a:pPr>
              <a:defRPr b="1" sz="950">
                <a:solidFill>
                  <a:srgbClr val="0EA5E9"/>
                </a:solidFill>
              </a:defRPr>
            </a:pPr>
            <a:r>
              <a:t>Managed Container Host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Node.js 20 backend with auto-scaling and persistent DB.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6366F1"/>
                </a:solidFill>
              </a:defRPr>
            </a:pPr>
            <a:r>
              <a:t>FINSIGHT ARCHITECTURE &amp; AWS INTEGRATION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Technical Deep-Dive: Zero-RAM S3 Pre-Signed Upload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56032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194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6366F1"/>
                </a:solidFill>
              </a:defRPr>
            </a:pPr>
            <a:r>
              <a:t>01</a:t>
            </a:r>
          </a:p>
          <a:p>
            <a:pPr>
              <a:defRPr b="1" sz="1200">
                <a:solidFill>
                  <a:srgbClr val="0F172A"/>
                </a:solidFill>
              </a:defRPr>
            </a:pPr>
            <a:r>
              <a:t>Step 1: Client Request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Browser sends GET /receipts/upload-url with MIME type. Server validates user auth &amp; generates UUID.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645920"/>
            <a:ext cx="256032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11880" y="1828800"/>
            <a:ext cx="2194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3B82F6"/>
                </a:solidFill>
              </a:defRPr>
            </a:pPr>
            <a:r>
              <a:t>02</a:t>
            </a:r>
          </a:p>
          <a:p>
            <a:pPr>
              <a:defRPr b="1" sz="1200">
                <a:solidFill>
                  <a:srgbClr val="0F172A"/>
                </a:solidFill>
              </a:defRPr>
            </a:pPr>
            <a:r>
              <a:t>Step 2: Pre-Signed URL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Backend calls S3 PutObjectCommand and generates signed URL with 15-minute TTL via AWS SDK.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256032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2194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10B981"/>
                </a:solidFill>
              </a:defRPr>
            </a:pPr>
            <a:r>
              <a:t>03</a:t>
            </a:r>
          </a:p>
          <a:p>
            <a:pPr>
              <a:defRPr b="1" sz="1200">
                <a:solidFill>
                  <a:srgbClr val="0F172A"/>
                </a:solidFill>
              </a:defRPr>
            </a:pPr>
            <a:r>
              <a:t>Step 3: Direct S3 Push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Browser executes HTTP PUT directly to private S3 bucket. Zero payload traverses Express memory.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645920"/>
            <a:ext cx="256032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06840" y="1828800"/>
            <a:ext cx="2194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F59E0B"/>
                </a:solidFill>
              </a:defRPr>
            </a:pPr>
            <a:r>
              <a:t>04</a:t>
            </a:r>
          </a:p>
          <a:p>
            <a:pPr>
              <a:defRPr b="1" sz="1200">
                <a:solidFill>
                  <a:srgbClr val="0F172A"/>
                </a:solidFill>
              </a:defRPr>
            </a:pPr>
            <a:r>
              <a:t>Step 4: Textract Scan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Express server passes S3Object: {Bucket, Key} to AnalyzeExpenseCommand. 100% decoupled memory.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94960"/>
            <a:ext cx="10698480" cy="9144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486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💡 Architectural Impact: Eliminates server-side buffer allocation, prevents Node.js garbage collection freezes during concurrent uploads, and enforces automatic 30-day data retention compliance via S3 Lifecycle Policies.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6366F1"/>
                </a:solidFill>
              </a:defRPr>
            </a:pPr>
            <a:r>
              <a:t>FINSIGHT ARCHITECTURE &amp; AWS INTEGRATION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Amazon Textract: Expense Extraction &amp; Confidence Scoring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6366F1"/>
                </a:solidFill>
              </a:defRPr>
            </a:pPr>
            <a:r>
              <a:t>📊 EXTRACTED EXPENSE FIELDS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Vendor Detection: Matches VENDOR_NAME or RECEIPT_HOUSE; maps to categories via merchant heuristics.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Line Item Groups: Item names, unit prices, and quantities extracted into structured array.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Summary Aggregates: Subtotal, sales tax/GST, and Grand Total normalized to numbers.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Date Normalization: Extracts INVOICE_RECEIPT_DATE and parses to ISO 8601 (YYYY-MM-DD).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0B981"/>
                </a:solidFill>
              </a:defRPr>
            </a:pPr>
            <a:r>
              <a:t>🛡️ DATA INTEGRITY &amp; ERROR GUARDRAILS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Confidence Flagging (&lt;80%): Items with confidence below threshold are flagged in lowConfidenceItems for manual review.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Mathematical Total Fallback: If Grand Total OCR is smudged, system computes: Total = Subtotal + Tax from line items.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Draft Isolation State: Receipts save as status: 'draft', preventing unverified OCR data from corrupting monthly analytics.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MIME Pre-Validation: Rejects unsupported formats (HEIC, WebP) with 400 bad request before executing billable AWS calls.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6366F1"/>
                </a:solidFill>
              </a:defRPr>
            </a:pPr>
            <a:r>
              <a:t>FINSIGHT ARCHITECTURE &amp; AWS INTEGRATION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Algorithmic Rigor: Graph-Theoretic Debt Simplification &amp; Dynamic UPI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6366F1"/>
                </a:solidFill>
              </a:defRPr>
            </a:pPr>
            <a:r>
              <a:t>⚖️ O(N²) TO O(N) DEBT MINIMIZATION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1. Net Position Computation: For each user i: NetBalance[i] = TotalPaid[i] - TotalOwed[i].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2. Partitioning: Separate users into Creditors (&gt; 0) and Debtors (&lt; 0). Net balance sum equals zero.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3. Greedy Two-Pointer Matching: Sort Creditors descending and Debtors ascending. Match largest debtor with largest creditor.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4. Elimination: Transfer amount = min(|Debtor|, Creditor). Advance pointers until complete.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Result: Reduces 10-person pairwise web (45 debts) down to at most 9 direct transfers.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0B981"/>
                </a:solidFill>
              </a:defRPr>
            </a:pPr>
            <a:r>
              <a:t>⚡ DYNAMIC NPCI-COMPLIANT UPI ENGINE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Official NPCI Specification: upi://pay?pa={VPA}&amp;pn={Name}&amp;am={Amount}&amp;cu=INR&amp;tn={Note}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Dynamic QR Code Rendering: Generates high-contrast QR code client-side via qrcode for immediate desktop scanning.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VPA Handle Autocomplete: Suggests handles with one-click bank suffix chips (@okaxis, @okhdfcbank, @paytm, @ybl).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Native Mobile Deep-Links: Mobile users tap 'Open in UPI App' to jump straight into Google Pay, PhonePe, or Paytm.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One-Tap Ledger Update: Records settlement in MongoDB and re-simplifies group balances immediately.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6366F1"/>
                </a:solidFill>
              </a:defRPr>
            </a:pPr>
            <a:r>
              <a:t>SOCRATIC FACULTY PEER REVIEW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Tier 1 Viva: Foundational Architecture &amp; AWS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698480" cy="6400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36192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10B981"/>
                </a:solidFill>
              </a:defRPr>
            </a:pPr>
            <a:r>
              <a:t>👨‍🏫 PROFESSOR: Q1: What fundamental problem does FinSight solve, and what is its architecture?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48840"/>
            <a:ext cx="10698480" cy="1600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80"/>
            <a:ext cx="101498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🎓 FACULTY DEFENSE: FinSight addresses 'expense tracking fatigue' through automated multimodal capture (Receipt OCR, Natural Language, and Bank SMS). Built as a decoupled SPA (React 18 + Vite) with an Express.js Node.js 20 backend and MongoDB Atlas, unifying single-user budgeting with multi-member trip ledgers.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10698480" cy="6400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005072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10B981"/>
                </a:solidFill>
              </a:defRPr>
            </a:pPr>
            <a:r>
              <a:t>👨‍🏫 PROFESSOR: Q2: Which AWS services are integrated, and why choose AWS over SaaS APIs?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17720"/>
            <a:ext cx="10698480" cy="1600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709160"/>
            <a:ext cx="101498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🎓 FACULTY DEFENSE: Integrated with 7 AWS services: Textract (OCR), S3 (Secure Storage), Bedrock (LLM Enrichment), SES (Email Digests), SNS (SMS), EventBridge (Cron), and Lambda (Serverless Dispatch). AWS provides centralized IAM security, unified billing, and sub-millisecond VPC networking.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6366F1"/>
                </a:solidFill>
              </a:defRPr>
            </a:pPr>
            <a:r>
              <a:t>SOCRATIC FACULTY PEER REVIEW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Tier 2 Viva: Pre-Signed S3 &amp; Textract Extraction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698480" cy="6400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36192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10B981"/>
                </a:solidFill>
              </a:defRPr>
            </a:pPr>
            <a:r>
              <a:t>👨‍🏫 PROFESSOR: Q3: Why pre-signed S3 URLs instead of streaming multipart data through Express?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48840"/>
            <a:ext cx="10698480" cy="1600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80"/>
            <a:ext cx="101498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🎓 FACULTY DEFENSE: Streaming large receipt images through Express causes severe RAM consumption and garbage collection spikes in Node.js. Pre-signed URLs let clients upload directly to S3 (Zero-RAM ingestion). Express only receives metadata, completely decoupling bandwidth from compute.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10698480" cy="6400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005072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10B981"/>
                </a:solidFill>
              </a:defRPr>
            </a:pPr>
            <a:r>
              <a:t>👨‍🏫 PROFESSOR: Q4: How does Textract AnalyzeExpense differ from standard OCR?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17720"/>
            <a:ext cx="10698480" cy="1600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709160"/>
            <a:ext cx="101498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🎓 FACULTY DEFENSE: Standard OCR produces unstructured string blocks. Textract AnalyzeExpense uses models specifically trained on invoices, returning structured SummaryFields and LineItemGroups with quantities, unit prices, and confidence ratings.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6366F1"/>
                </a:solidFill>
              </a:defRPr>
            </a:pPr>
            <a:r>
              <a:t>SOCRATIC FACULTY PEER REVIEW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Tier 3 Viva: EventBridge Cron &amp; HMAC Magic Links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698480" cy="6400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36192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10B981"/>
                </a:solidFill>
              </a:defRPr>
            </a:pPr>
            <a:r>
              <a:t>👨‍🏫 PROFESSOR: Q5: How does the serverless EOD reminder pipeline operate securely?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48840"/>
            <a:ext cx="10698480" cy="1600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80"/>
            <a:ext cx="101498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🎓 FACULTY DEFENSE: EventBridge triggers an AWS Lambda microservice daily at 21:00 UTC. Lambda queries FinSight's internal endpoint with a shared REMINDER_SECRET_KEY. The backend queries pending drafts and dispatches responsive HTML digests via Amazon 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10698480" cy="6400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005072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10B981"/>
                </a:solidFill>
              </a:defRPr>
            </a:pPr>
            <a:r>
              <a:t>👨‍🏫 PROFESSOR: Q6: How do One-Tap Magic Links authenticate without passwords?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17720"/>
            <a:ext cx="10698480" cy="1600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709160"/>
            <a:ext cx="101498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🎓 FACULTY DEFENSE: Magic links embed an HMAC-SHA256 signed JWT containing userId, eligible draftIds, and action: 'approve_drafts' with a 48-hour expiration. Upon verification, drafts transition to cleared; subsequent replay attempts fail safely.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6366F1"/>
                </a:solidFill>
              </a:defRPr>
            </a:pPr>
            <a:r>
              <a:t>SOCRATIC FACULTY PEER REVIEW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Tier 4 Viva: Faculty Defense, App Runner &amp; 100K Spike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698480" cy="6400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36192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10B981"/>
                </a:solidFill>
              </a:defRPr>
            </a:pPr>
            <a:r>
              <a:t>👨‍🏫 PROFESSOR: Q7: Why choose AWS App Runner over Lambda or ECS Fargate?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48840"/>
            <a:ext cx="10698480" cy="1600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80"/>
            <a:ext cx="101498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🎓 FACULTY DEFENSE: Lambda suffers from 2-3 second cold starts and exhausts MongoDB connection pools. ECS Fargate introduces complex ALB, VPC, and target group overhead. App Runner offers the perfect balance: zero cold starts, persistent DB connection pooling, and fully managed container auto-scaling.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10698480" cy="6400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005072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10B981"/>
                </a:solidFill>
              </a:defRPr>
            </a:pPr>
            <a:r>
              <a:t>👨‍🏫 PROFESSOR: Q8: Where does the system break under a 100x traffic spike?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17720"/>
            <a:ext cx="10698480" cy="1600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709160"/>
            <a:ext cx="101498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🎓 FACULTY DEFENSE: The first bottleneck is Textract synchronous API concurrency quotas. To harden for 100K spikes, we evolve to an asynchronous architecture: S3 event triggers Amazon SQS FIFO queue, worker pools process Textract asynchronously, and clients receive updates via WebSockets.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6366F1"/>
                </a:solidFill>
              </a:defRPr>
            </a:pPr>
            <a:r>
              <a:t>FINSIGHT ARCHITECTURE &amp; AWS INTEGRATION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Professor's Official Evaluation &amp; Scoring Rubric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56032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172A"/>
                </a:solidFill>
              </a:defRPr>
            </a:pPr>
            <a:r>
              <a:t>Architecture &amp; Scalability</a:t>
            </a:r>
          </a:p>
          <a:p>
            <a:pPr>
              <a:defRPr b="1" sz="2200">
                <a:solidFill>
                  <a:srgbClr val="10B981"/>
                </a:solidFill>
              </a:defRPr>
            </a:pPr>
            <a:r>
              <a:t>9.5 / 10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Zero-RAM S3 ingestion and App Runner decoupled compute.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645920"/>
            <a:ext cx="256032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11880" y="182880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172A"/>
                </a:solidFill>
              </a:defRPr>
            </a:pPr>
            <a:r>
              <a:t>AWS Service Breadth</a:t>
            </a:r>
          </a:p>
          <a:p>
            <a:pPr>
              <a:defRPr b="1" sz="2200">
                <a:solidFill>
                  <a:srgbClr val="10B981"/>
                </a:solidFill>
              </a:defRPr>
            </a:pPr>
            <a:r>
              <a:t>9.8 / 10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Mastery across Textract, Bedrock, S3, SES, SNS, EventBridge &amp; Lambda.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256032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172A"/>
                </a:solidFill>
              </a:defRPr>
            </a:pPr>
            <a:r>
              <a:t>Security &amp; IAM Controls</a:t>
            </a:r>
          </a:p>
          <a:p>
            <a:pPr>
              <a:defRPr b="1" sz="2200">
                <a:solidFill>
                  <a:srgbClr val="10B981"/>
                </a:solidFill>
              </a:defRPr>
            </a:pPr>
            <a:r>
              <a:t>9.2 / 10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CloudFront OAC zero-trust perimeter and HMAC-SHA256 magic links.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645920"/>
            <a:ext cx="256032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06840" y="182880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172A"/>
                </a:solidFill>
              </a:defRPr>
            </a:pPr>
            <a:r>
              <a:t>Algorithmic Innovation</a:t>
            </a:r>
          </a:p>
          <a:p>
            <a:pPr>
              <a:defRPr b="1" sz="2200">
                <a:solidFill>
                  <a:srgbClr val="10B981"/>
                </a:solidFill>
              </a:defRPr>
            </a:pPr>
            <a:r>
              <a:t>9.5 / 10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Graph debt simplification and NPCI-compliant dynamic UPI engine.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846320"/>
            <a:ext cx="10698480" cy="14630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983480"/>
            <a:ext cx="10149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47857"/>
                </a:solidFill>
              </a:defRPr>
            </a:pPr>
            <a:r>
              <a:t>🏆 FINAL ACADEMIC VERDICT: UNANIMOUS HIGH DISTINCTION (A+ / 9.5 out of 10)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The candidate has demonstrated exceptional software engineering rigor, cloud architecture maturity, and algorithmic depth. FinSight stands as a model reference architecture for modern cloud-native financial technology.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